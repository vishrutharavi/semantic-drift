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6" r:id="rId5"/>
    <p:sldMasterId id="214748371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5143500" cx="9144000"/>
  <p:notesSz cx="6858000" cy="9144000"/>
  <p:embeddedFontLst>
    <p:embeddedFont>
      <p:font typeface="Playfair Display Medium"/>
      <p:regular r:id="rId36"/>
      <p:bold r:id="rId37"/>
      <p:italic r:id="rId38"/>
      <p:boldItalic r:id="rId39"/>
    </p:embeddedFont>
    <p:embeddedFont>
      <p:font typeface="Noto Emoji"/>
      <p:regular r:id="rId40"/>
      <p:bold r:id="rId41"/>
    </p:embeddedFont>
    <p:embeddedFont>
      <p:font typeface="Playfair Display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  <p:embeddedFont>
      <p:font typeface="Poppins"/>
      <p:regular r:id="rId50"/>
      <p:bold r:id="rId51"/>
      <p:italic r:id="rId52"/>
      <p:boldItalic r:id="rId53"/>
    </p:embeddedFont>
    <p:embeddedFont>
      <p:font typeface="Poppins SemiBold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FFB23F-A1E1-4FA3-A69C-21A98173DA45}">
  <a:tblStyle styleId="{88FFB23F-A1E1-4FA3-A69C-21A98173DA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toEmoji-regular.fntdata"/><Relationship Id="rId42" Type="http://schemas.openxmlformats.org/officeDocument/2006/relationships/font" Target="fonts/PlayfairDisplay-regular.fntdata"/><Relationship Id="rId41" Type="http://schemas.openxmlformats.org/officeDocument/2006/relationships/font" Target="fonts/NotoEmoji-bold.fntdata"/><Relationship Id="rId44" Type="http://schemas.openxmlformats.org/officeDocument/2006/relationships/font" Target="fonts/PlayfairDisplay-italic.fntdata"/><Relationship Id="rId43" Type="http://schemas.openxmlformats.org/officeDocument/2006/relationships/font" Target="fonts/PlayfairDisplay-bold.fntdata"/><Relationship Id="rId46" Type="http://schemas.openxmlformats.org/officeDocument/2006/relationships/font" Target="fonts/Lato-regular.fntdata"/><Relationship Id="rId45" Type="http://schemas.openxmlformats.org/officeDocument/2006/relationships/font" Target="fonts/PlayfairDispl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font" Target="fonts/PlayfairDisplayMedium-bold.fntdata"/><Relationship Id="rId36" Type="http://schemas.openxmlformats.org/officeDocument/2006/relationships/font" Target="fonts/PlayfairDisplayMedium-regular.fntdata"/><Relationship Id="rId39" Type="http://schemas.openxmlformats.org/officeDocument/2006/relationships/font" Target="fonts/PlayfairDisplayMedium-boldItalic.fntdata"/><Relationship Id="rId38" Type="http://schemas.openxmlformats.org/officeDocument/2006/relationships/font" Target="fonts/PlayfairDisplayMedium-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Poppins-bold.fntdata"/><Relationship Id="rId50" Type="http://schemas.openxmlformats.org/officeDocument/2006/relationships/font" Target="fonts/Poppins-regular.fntdata"/><Relationship Id="rId53" Type="http://schemas.openxmlformats.org/officeDocument/2006/relationships/font" Target="fonts/Poppins-boldItalic.fntdata"/><Relationship Id="rId52" Type="http://schemas.openxmlformats.org/officeDocument/2006/relationships/font" Target="fonts/Poppins-italic.fntdata"/><Relationship Id="rId11" Type="http://schemas.openxmlformats.org/officeDocument/2006/relationships/slide" Target="slides/slide4.xml"/><Relationship Id="rId55" Type="http://schemas.openxmlformats.org/officeDocument/2006/relationships/font" Target="fonts/PoppinsSemiBold-bold.fntdata"/><Relationship Id="rId10" Type="http://schemas.openxmlformats.org/officeDocument/2006/relationships/slide" Target="slides/slide3.xml"/><Relationship Id="rId54" Type="http://schemas.openxmlformats.org/officeDocument/2006/relationships/font" Target="fonts/PoppinsSemiBold-regular.fntdata"/><Relationship Id="rId13" Type="http://schemas.openxmlformats.org/officeDocument/2006/relationships/slide" Target="slides/slide6.xml"/><Relationship Id="rId57" Type="http://schemas.openxmlformats.org/officeDocument/2006/relationships/font" Target="fonts/PoppinsSemiBold-boldItalic.fntdata"/><Relationship Id="rId12" Type="http://schemas.openxmlformats.org/officeDocument/2006/relationships/slide" Target="slides/slide5.xml"/><Relationship Id="rId56" Type="http://schemas.openxmlformats.org/officeDocument/2006/relationships/font" Target="fonts/PoppinsSemiBold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66b9072d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d66b9072d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d66b9072d0_1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d66b9072d0_1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d66b9072d0_1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d66b9072d0_1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d66b9072d0_1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d66b9072d0_1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66b9072d0_1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d66b9072d0_1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66b9072d0_1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d66b9072d0_1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66b9072d0_1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d66b9072d0_1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d66b9072d0_1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d66b9072d0_1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66b9072d0_1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d66b9072d0_1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d853a2c5d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d853a2c5d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d66b9072d0_1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d66b9072d0_1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d66b9072d0_1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d66b9072d0_1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d66b9072d0_1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d66b9072d0_1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d6b131cf6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d6b131cf6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6b131cf6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d6b131cf6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d6b131cf6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d6b131cf6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d6b131cf6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d6b131cf6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d6b131cf6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d6b131cf6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d6b131cf6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d6b131cf6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d6b131cf6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d6b131cf6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d853a2c5d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d853a2c5d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d6b131cf6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3d6b131cf6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d6b131cf6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d6b131cf6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d6b131cf67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d6b131cf6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d6b131cf6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d6b131cf6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d6b131cf67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d6b131cf6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d6b131cf6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d6b131cf6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d6b131cf6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d6b131cf6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">
  <p:cSld name="BLANK_1_1_1_1_8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2" type="subTitle"/>
          </p:nvPr>
        </p:nvSpPr>
        <p:spPr>
          <a:xfrm>
            <a:off x="4071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27105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subTitle"/>
          </p:nvPr>
        </p:nvSpPr>
        <p:spPr>
          <a:xfrm>
            <a:off x="50140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73174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body"/>
          </p:nvPr>
        </p:nvSpPr>
        <p:spPr>
          <a:xfrm>
            <a:off x="4071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1" name="Google Shape;21;p3"/>
          <p:cNvSpPr txBox="1"/>
          <p:nvPr>
            <p:ph idx="7" type="body"/>
          </p:nvPr>
        </p:nvSpPr>
        <p:spPr>
          <a:xfrm>
            <a:off x="27105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2" name="Google Shape;22;p3"/>
          <p:cNvSpPr txBox="1"/>
          <p:nvPr>
            <p:ph idx="8" type="body"/>
          </p:nvPr>
        </p:nvSpPr>
        <p:spPr>
          <a:xfrm>
            <a:off x="50140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3" name="Google Shape;23;p3"/>
          <p:cNvSpPr txBox="1"/>
          <p:nvPr>
            <p:ph idx="9" type="body"/>
          </p:nvPr>
        </p:nvSpPr>
        <p:spPr>
          <a:xfrm>
            <a:off x="73174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 with small statement">
  <p:cSld name="BLANK_1_1_1_1_6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" type="body"/>
          </p:nvPr>
        </p:nvSpPr>
        <p:spPr>
          <a:xfrm>
            <a:off x="5503325" y="524750"/>
            <a:ext cx="3356100" cy="8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276075" y="457200"/>
            <a:ext cx="50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4"/>
          <p:cNvSpPr txBox="1"/>
          <p:nvPr>
            <p:ph idx="3" type="subTitle"/>
          </p:nvPr>
        </p:nvSpPr>
        <p:spPr>
          <a:xfrm>
            <a:off x="27952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4" type="subTitle"/>
          </p:nvPr>
        </p:nvSpPr>
        <p:spPr>
          <a:xfrm>
            <a:off x="2489940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5" type="subTitle"/>
          </p:nvPr>
        </p:nvSpPr>
        <p:spPr>
          <a:xfrm>
            <a:off x="469513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6" type="subTitle"/>
          </p:nvPr>
        </p:nvSpPr>
        <p:spPr>
          <a:xfrm>
            <a:off x="6900335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7" type="body"/>
          </p:nvPr>
        </p:nvSpPr>
        <p:spPr>
          <a:xfrm>
            <a:off x="27495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4" name="Google Shape;34;p4"/>
          <p:cNvSpPr txBox="1"/>
          <p:nvPr>
            <p:ph idx="8" type="body"/>
          </p:nvPr>
        </p:nvSpPr>
        <p:spPr>
          <a:xfrm>
            <a:off x="248994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5" name="Google Shape;35;p4"/>
          <p:cNvSpPr txBox="1"/>
          <p:nvPr>
            <p:ph idx="9" type="body"/>
          </p:nvPr>
        </p:nvSpPr>
        <p:spPr>
          <a:xfrm>
            <a:off x="470493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6" name="Google Shape;36;p4"/>
          <p:cNvSpPr txBox="1"/>
          <p:nvPr>
            <p:ph idx="13" type="body"/>
          </p:nvPr>
        </p:nvSpPr>
        <p:spPr>
          <a:xfrm>
            <a:off x="6900335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7" name="Google Shape;37;p4"/>
          <p:cNvSpPr txBox="1"/>
          <p:nvPr>
            <p:ph idx="14" type="subTitle"/>
          </p:nvPr>
        </p:nvSpPr>
        <p:spPr>
          <a:xfrm>
            <a:off x="27952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5" type="subTitle"/>
          </p:nvPr>
        </p:nvSpPr>
        <p:spPr>
          <a:xfrm>
            <a:off x="248995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6" type="subTitle"/>
          </p:nvPr>
        </p:nvSpPr>
        <p:spPr>
          <a:xfrm>
            <a:off x="470037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7" type="subTitle"/>
          </p:nvPr>
        </p:nvSpPr>
        <p:spPr>
          <a:xfrm>
            <a:off x="691080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right image and 2 text boxes">
  <p:cSld name="BLANK_1_1_1_1_5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276075" y="457200"/>
            <a:ext cx="6432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5"/>
          <p:cNvSpPr/>
          <p:nvPr>
            <p:ph idx="2" type="pic"/>
          </p:nvPr>
        </p:nvSpPr>
        <p:spPr>
          <a:xfrm>
            <a:off x="6802800" y="0"/>
            <a:ext cx="23412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4682775" y="2717425"/>
            <a:ext cx="20262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3" type="subTitle"/>
          </p:nvPr>
        </p:nvSpPr>
        <p:spPr>
          <a:xfrm>
            <a:off x="6843453" y="2717425"/>
            <a:ext cx="20301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idx="4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5" type="body"/>
          </p:nvPr>
        </p:nvSpPr>
        <p:spPr>
          <a:xfrm>
            <a:off x="4682775" y="3042765"/>
            <a:ext cx="20262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49" name="Google Shape;49;p5"/>
          <p:cNvSpPr txBox="1"/>
          <p:nvPr>
            <p:ph idx="6" type="body"/>
          </p:nvPr>
        </p:nvSpPr>
        <p:spPr>
          <a:xfrm>
            <a:off x="6843455" y="3042765"/>
            <a:ext cx="20301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peakers info">
  <p:cSld name="BLANK_1_1_1_1_3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5461825" y="850"/>
            <a:ext cx="3682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" name="Google Shape;52;p6"/>
          <p:cNvSpPr txBox="1"/>
          <p:nvPr>
            <p:ph idx="1" type="subTitle"/>
          </p:nvPr>
        </p:nvSpPr>
        <p:spPr>
          <a:xfrm>
            <a:off x="1987875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2" type="subTitle"/>
          </p:nvPr>
        </p:nvSpPr>
        <p:spPr>
          <a:xfrm>
            <a:off x="1987875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4" name="Google Shape;54;p6"/>
          <p:cNvSpPr/>
          <p:nvPr>
            <p:ph idx="3" type="pic"/>
          </p:nvPr>
        </p:nvSpPr>
        <p:spPr>
          <a:xfrm>
            <a:off x="-5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6"/>
          <p:cNvSpPr/>
          <p:nvPr>
            <p:ph idx="4" type="pic"/>
          </p:nvPr>
        </p:nvSpPr>
        <p:spPr>
          <a:xfrm>
            <a:off x="452716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6"/>
          <p:cNvSpPr txBox="1"/>
          <p:nvPr>
            <p:ph idx="5" type="subTitle"/>
          </p:nvPr>
        </p:nvSpPr>
        <p:spPr>
          <a:xfrm>
            <a:off x="6525486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6" type="subTitle"/>
          </p:nvPr>
        </p:nvSpPr>
        <p:spPr>
          <a:xfrm>
            <a:off x="6525486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8" name="Google Shape;58;p6"/>
          <p:cNvSpPr txBox="1"/>
          <p:nvPr>
            <p:ph type="title"/>
          </p:nvPr>
        </p:nvSpPr>
        <p:spPr>
          <a:xfrm>
            <a:off x="276075" y="457200"/>
            <a:ext cx="42489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7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6"/>
          <p:cNvSpPr txBox="1"/>
          <p:nvPr>
            <p:ph idx="8" type="body"/>
          </p:nvPr>
        </p:nvSpPr>
        <p:spPr>
          <a:xfrm>
            <a:off x="1987875" y="3545425"/>
            <a:ext cx="17550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9" type="body"/>
          </p:nvPr>
        </p:nvSpPr>
        <p:spPr>
          <a:xfrm>
            <a:off x="6536675" y="3545425"/>
            <a:ext cx="16998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>
            <p:ph idx="2" type="pic"/>
          </p:nvPr>
        </p:nvSpPr>
        <p:spPr>
          <a:xfrm>
            <a:off x="4138225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7"/>
          <p:cNvSpPr/>
          <p:nvPr>
            <p:ph idx="3" type="pic"/>
          </p:nvPr>
        </p:nvSpPr>
        <p:spPr>
          <a:xfrm>
            <a:off x="4138225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7"/>
          <p:cNvSpPr/>
          <p:nvPr>
            <p:ph idx="4" type="pic"/>
          </p:nvPr>
        </p:nvSpPr>
        <p:spPr>
          <a:xfrm>
            <a:off x="4138213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7"/>
          <p:cNvSpPr/>
          <p:nvPr>
            <p:ph idx="5" type="pic"/>
          </p:nvPr>
        </p:nvSpPr>
        <p:spPr>
          <a:xfrm>
            <a:off x="6573252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"/>
          <p:cNvSpPr/>
          <p:nvPr>
            <p:ph idx="6" type="pic"/>
          </p:nvPr>
        </p:nvSpPr>
        <p:spPr>
          <a:xfrm>
            <a:off x="6573252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7"/>
          <p:cNvSpPr/>
          <p:nvPr>
            <p:ph idx="7" type="pic"/>
          </p:nvPr>
        </p:nvSpPr>
        <p:spPr>
          <a:xfrm>
            <a:off x="6573252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5406561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1" name="Google Shape;71;p7"/>
          <p:cNvSpPr txBox="1"/>
          <p:nvPr>
            <p:ph idx="8" type="subTitle"/>
          </p:nvPr>
        </p:nvSpPr>
        <p:spPr>
          <a:xfrm>
            <a:off x="5406561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9" type="subTitle"/>
          </p:nvPr>
        </p:nvSpPr>
        <p:spPr>
          <a:xfrm>
            <a:off x="5406561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3" name="Google Shape;73;p7"/>
          <p:cNvSpPr txBox="1"/>
          <p:nvPr>
            <p:ph idx="13" type="subTitle"/>
          </p:nvPr>
        </p:nvSpPr>
        <p:spPr>
          <a:xfrm>
            <a:off x="7840736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4" type="subTitle"/>
          </p:nvPr>
        </p:nvSpPr>
        <p:spPr>
          <a:xfrm>
            <a:off x="7840736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15" type="subTitle"/>
          </p:nvPr>
        </p:nvSpPr>
        <p:spPr>
          <a:xfrm>
            <a:off x="7840736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6" type="subTitle"/>
          </p:nvPr>
        </p:nvSpPr>
        <p:spPr>
          <a:xfrm>
            <a:off x="5406550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77" name="Google Shape;77;p7"/>
          <p:cNvSpPr txBox="1"/>
          <p:nvPr>
            <p:ph idx="17" type="subTitle"/>
          </p:nvPr>
        </p:nvSpPr>
        <p:spPr>
          <a:xfrm>
            <a:off x="7840725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78" name="Google Shape;78;p7"/>
          <p:cNvSpPr txBox="1"/>
          <p:nvPr>
            <p:ph idx="18" type="subTitle"/>
          </p:nvPr>
        </p:nvSpPr>
        <p:spPr>
          <a:xfrm>
            <a:off x="5406550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79" name="Google Shape;79;p7"/>
          <p:cNvSpPr txBox="1"/>
          <p:nvPr>
            <p:ph idx="19" type="subTitle"/>
          </p:nvPr>
        </p:nvSpPr>
        <p:spPr>
          <a:xfrm>
            <a:off x="7840725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0" name="Google Shape;80;p7"/>
          <p:cNvSpPr txBox="1"/>
          <p:nvPr>
            <p:ph idx="20" type="subTitle"/>
          </p:nvPr>
        </p:nvSpPr>
        <p:spPr>
          <a:xfrm>
            <a:off x="5406550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1" name="Google Shape;81;p7"/>
          <p:cNvSpPr txBox="1"/>
          <p:nvPr>
            <p:ph idx="21" type="subTitle"/>
          </p:nvPr>
        </p:nvSpPr>
        <p:spPr>
          <a:xfrm>
            <a:off x="7840725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2" name="Google Shape;82;p7"/>
          <p:cNvSpPr txBox="1"/>
          <p:nvPr>
            <p:ph type="title"/>
          </p:nvPr>
        </p:nvSpPr>
        <p:spPr>
          <a:xfrm>
            <a:off x="276075" y="457200"/>
            <a:ext cx="38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2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84" name="Google Shape;84;p7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_2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88" name="Google Shape;88;p8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8"/>
          <p:cNvSpPr txBox="1"/>
          <p:nvPr>
            <p:ph idx="2" type="body"/>
          </p:nvPr>
        </p:nvSpPr>
        <p:spPr>
          <a:xfrm>
            <a:off x="276075" y="1763425"/>
            <a:ext cx="43428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with picture">
  <p:cSld name="BLANK_1_1_1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1182150" y="1765350"/>
            <a:ext cx="6779700" cy="17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2" type="title"/>
          </p:nvPr>
        </p:nvSpPr>
        <p:spPr>
          <a:xfrm>
            <a:off x="1182150" y="4058050"/>
            <a:ext cx="6779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3" name="Google Shape;93;p9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9"/>
          <p:cNvSpPr/>
          <p:nvPr>
            <p:ph idx="3" type="pic"/>
          </p:nvPr>
        </p:nvSpPr>
        <p:spPr>
          <a:xfrm>
            <a:off x="0" y="0"/>
            <a:ext cx="9144000" cy="1079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dk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>
            <p:ph type="title"/>
          </p:nvPr>
        </p:nvSpPr>
        <p:spPr>
          <a:xfrm>
            <a:off x="270983" y="1985025"/>
            <a:ext cx="33429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98" name="Google Shape;98;p10"/>
          <p:cNvSpPr txBox="1"/>
          <p:nvPr>
            <p:ph idx="2" type="title"/>
          </p:nvPr>
        </p:nvSpPr>
        <p:spPr>
          <a:xfrm>
            <a:off x="270983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9" name="Google Shape;99;p10"/>
          <p:cNvSpPr txBox="1"/>
          <p:nvPr>
            <p:ph idx="3" type="title"/>
          </p:nvPr>
        </p:nvSpPr>
        <p:spPr>
          <a:xfrm>
            <a:off x="270983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0" name="Google Shape;100;p10"/>
          <p:cNvSpPr txBox="1"/>
          <p:nvPr>
            <p:ph idx="4" type="title"/>
          </p:nvPr>
        </p:nvSpPr>
        <p:spPr>
          <a:xfrm>
            <a:off x="4858317" y="19850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5" type="title"/>
          </p:nvPr>
        </p:nvSpPr>
        <p:spPr>
          <a:xfrm>
            <a:off x="4858317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6" type="title"/>
          </p:nvPr>
        </p:nvSpPr>
        <p:spPr>
          <a:xfrm>
            <a:off x="4858317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idx="7"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4" name="Google Shape;104;p10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0"/>
          <p:cNvSpPr txBox="1"/>
          <p:nvPr>
            <p:ph idx="8" type="subTitle"/>
          </p:nvPr>
        </p:nvSpPr>
        <p:spPr>
          <a:xfrm>
            <a:off x="271825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07" name="Google Shape;107;p10"/>
          <p:cNvSpPr txBox="1"/>
          <p:nvPr>
            <p:ph idx="9" type="subTitle"/>
          </p:nvPr>
        </p:nvSpPr>
        <p:spPr>
          <a:xfrm>
            <a:off x="4858700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08" name="Google Shape;108;p10"/>
          <p:cNvSpPr txBox="1"/>
          <p:nvPr>
            <p:ph idx="13" type="subTitle"/>
          </p:nvPr>
        </p:nvSpPr>
        <p:spPr>
          <a:xfrm>
            <a:off x="271825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09" name="Google Shape;109;p10"/>
          <p:cNvSpPr txBox="1"/>
          <p:nvPr>
            <p:ph idx="14" type="subTitle"/>
          </p:nvPr>
        </p:nvSpPr>
        <p:spPr>
          <a:xfrm>
            <a:off x="271825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10" name="Google Shape;110;p10"/>
          <p:cNvSpPr txBox="1"/>
          <p:nvPr>
            <p:ph idx="15" type="subTitle"/>
          </p:nvPr>
        </p:nvSpPr>
        <p:spPr>
          <a:xfrm>
            <a:off x="4858700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11" name="Google Shape;111;p10"/>
          <p:cNvSpPr txBox="1"/>
          <p:nvPr>
            <p:ph idx="16" type="subTitle"/>
          </p:nvPr>
        </p:nvSpPr>
        <p:spPr>
          <a:xfrm>
            <a:off x="4858700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image with right text">
  <p:cSld name="BLANK_1_1_1_1_1_1_1_1_1_1_1_1_1_1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/>
          <p:nvPr>
            <p:ph idx="2" type="pic"/>
          </p:nvPr>
        </p:nvSpPr>
        <p:spPr>
          <a:xfrm>
            <a:off x="0" y="0"/>
            <a:ext cx="434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1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type="title"/>
          </p:nvPr>
        </p:nvSpPr>
        <p:spPr>
          <a:xfrm>
            <a:off x="4618950" y="457200"/>
            <a:ext cx="42516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11"/>
          <p:cNvSpPr txBox="1"/>
          <p:nvPr>
            <p:ph idx="3" type="subTitle"/>
          </p:nvPr>
        </p:nvSpPr>
        <p:spPr>
          <a:xfrm>
            <a:off x="4618950" y="2823908"/>
            <a:ext cx="4251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4" type="body"/>
          </p:nvPr>
        </p:nvSpPr>
        <p:spPr>
          <a:xfrm>
            <a:off x="4618950" y="3457500"/>
            <a:ext cx="4251600" cy="9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image">
  <p:cSld name="BLANK_1_1_1_1_1_1_1_1_1_1_1_1_1_1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/>
          <p:nvPr>
            <p:ph idx="2" type="pic"/>
          </p:nvPr>
        </p:nvSpPr>
        <p:spPr>
          <a:xfrm>
            <a:off x="6877724" y="0"/>
            <a:ext cx="2266200" cy="34050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2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3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1114250" y="18790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2" type="subTitle"/>
          </p:nvPr>
        </p:nvSpPr>
        <p:spPr>
          <a:xfrm>
            <a:off x="2135350" y="18790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3" type="subTitle"/>
          </p:nvPr>
        </p:nvSpPr>
        <p:spPr>
          <a:xfrm>
            <a:off x="5787475" y="19129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1114250" y="28168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2135350" y="28168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5787475" y="28507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idx="7" type="subTitle"/>
          </p:nvPr>
        </p:nvSpPr>
        <p:spPr>
          <a:xfrm>
            <a:off x="1114250" y="37546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8" type="subTitle"/>
          </p:nvPr>
        </p:nvSpPr>
        <p:spPr>
          <a:xfrm>
            <a:off x="2135350" y="37546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9" type="subTitle"/>
          </p:nvPr>
        </p:nvSpPr>
        <p:spPr>
          <a:xfrm>
            <a:off x="5787475" y="37885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1">
  <p:cSld name="CUSTOM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14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9" name="Google Shape;139;p14"/>
          <p:cNvSpPr txBox="1"/>
          <p:nvPr>
            <p:ph idx="1" type="subTitle"/>
          </p:nvPr>
        </p:nvSpPr>
        <p:spPr>
          <a:xfrm>
            <a:off x="276075" y="1194000"/>
            <a:ext cx="19902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40" name="Google Shape;140;p14"/>
          <p:cNvSpPr txBox="1"/>
          <p:nvPr>
            <p:ph idx="2" type="subTitle"/>
          </p:nvPr>
        </p:nvSpPr>
        <p:spPr>
          <a:xfrm>
            <a:off x="3074775" y="1194000"/>
            <a:ext cx="4164900" cy="2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41" name="Google Shape;141;p14"/>
          <p:cNvSpPr txBox="1"/>
          <p:nvPr>
            <p:ph idx="3" type="body"/>
          </p:nvPr>
        </p:nvSpPr>
        <p:spPr>
          <a:xfrm>
            <a:off x="30747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30747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body"/>
          </p:nvPr>
        </p:nvSpPr>
        <p:spPr>
          <a:xfrm>
            <a:off x="48828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44" name="Google Shape;144;p14"/>
          <p:cNvSpPr txBox="1"/>
          <p:nvPr>
            <p:ph idx="6" type="subTitle"/>
          </p:nvPr>
        </p:nvSpPr>
        <p:spPr>
          <a:xfrm>
            <a:off x="48828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5" name="Google Shape;145;p14"/>
          <p:cNvSpPr txBox="1"/>
          <p:nvPr>
            <p:ph idx="7" type="body"/>
          </p:nvPr>
        </p:nvSpPr>
        <p:spPr>
          <a:xfrm>
            <a:off x="66909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46" name="Google Shape;146;p14"/>
          <p:cNvSpPr txBox="1"/>
          <p:nvPr>
            <p:ph idx="8" type="subTitle"/>
          </p:nvPr>
        </p:nvSpPr>
        <p:spPr>
          <a:xfrm>
            <a:off x="66909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7" name="Google Shape;147;p14"/>
          <p:cNvSpPr txBox="1"/>
          <p:nvPr>
            <p:ph idx="9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8" name="Google Shape;148;p14"/>
          <p:cNvSpPr/>
          <p:nvPr>
            <p:ph idx="13" type="pic"/>
          </p:nvPr>
        </p:nvSpPr>
        <p:spPr>
          <a:xfrm>
            <a:off x="-74" y="3991500"/>
            <a:ext cx="2266200" cy="115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2">
  <p:cSld name="CUSTOM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" type="subTitle"/>
          </p:nvPr>
        </p:nvSpPr>
        <p:spPr>
          <a:xfrm>
            <a:off x="276075" y="1194000"/>
            <a:ext cx="49926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2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3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4" type="body"/>
          </p:nvPr>
        </p:nvSpPr>
        <p:spPr>
          <a:xfrm>
            <a:off x="2760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56" name="Google Shape;156;p15"/>
          <p:cNvSpPr txBox="1"/>
          <p:nvPr>
            <p:ph idx="5" type="subTitle"/>
          </p:nvPr>
        </p:nvSpPr>
        <p:spPr>
          <a:xfrm>
            <a:off x="2760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7" name="Google Shape;157;p15"/>
          <p:cNvSpPr txBox="1"/>
          <p:nvPr>
            <p:ph idx="6" type="body"/>
          </p:nvPr>
        </p:nvSpPr>
        <p:spPr>
          <a:xfrm>
            <a:off x="30747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58" name="Google Shape;158;p15"/>
          <p:cNvSpPr txBox="1"/>
          <p:nvPr>
            <p:ph idx="7" type="subTitle"/>
          </p:nvPr>
        </p:nvSpPr>
        <p:spPr>
          <a:xfrm>
            <a:off x="30747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9" name="Google Shape;159;p15"/>
          <p:cNvSpPr txBox="1"/>
          <p:nvPr>
            <p:ph idx="8" type="body"/>
          </p:nvPr>
        </p:nvSpPr>
        <p:spPr>
          <a:xfrm>
            <a:off x="58734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60" name="Google Shape;160;p15"/>
          <p:cNvSpPr txBox="1"/>
          <p:nvPr>
            <p:ph idx="9" type="subTitle"/>
          </p:nvPr>
        </p:nvSpPr>
        <p:spPr>
          <a:xfrm>
            <a:off x="58734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1" name="Google Shape;161;p15"/>
          <p:cNvSpPr/>
          <p:nvPr>
            <p:ph idx="13" type="pic"/>
          </p:nvPr>
        </p:nvSpPr>
        <p:spPr>
          <a:xfrm>
            <a:off x="2760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15"/>
          <p:cNvSpPr/>
          <p:nvPr>
            <p:ph idx="14" type="pic"/>
          </p:nvPr>
        </p:nvSpPr>
        <p:spPr>
          <a:xfrm>
            <a:off x="30747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15"/>
          <p:cNvSpPr/>
          <p:nvPr>
            <p:ph idx="15" type="pic"/>
          </p:nvPr>
        </p:nvSpPr>
        <p:spPr>
          <a:xfrm>
            <a:off x="5873475" y="2073688"/>
            <a:ext cx="2463300" cy="1570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3">
  <p:cSld name="CUSTOM_1_1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6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71" name="Google Shape;17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190" name="Google Shape;190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1" name="Google Shape;191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2" name="Google Shape;202;p2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3" name="Google Shape;203;p2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8" name="Google Shape;208;p2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9" name="Google Shape;209;p2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12" name="Google Shape;212;p3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3" name="Google Shape;213;p3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4" name="Google Shape;214;p3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5" name="Google Shape;215;p3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8" name="Google Shape;218;p3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9" name="Google Shape;219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20" name="Google Shape;220;p3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1" name="Google Shape;221;p3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2" name="Google Shape;222;p3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3" name="Google Shape;223;p3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6" name="Google Shape;226;p3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7" name="Google Shape;227;p3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8" name="Google Shape;228;p3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9" name="Google Shape;229;p3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30" name="Google Shape;230;p3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1" name="Google Shape;231;p3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2" name="Google Shape;232;p3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3" name="Google Shape;233;p3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6" name="Google Shape;236;p3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9" name="Google Shape;239;p3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3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2" name="Google Shape;24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3" name="Google Shape;243;p3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4" name="Google Shape;244;p3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7" name="Google Shape;247;p3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3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0" name="Google Shape;250;p3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3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2" name="Google Shape;25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3" name="Google Shape;253;p3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4" name="Google Shape;254;p3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5" name="Google Shape;255;p3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6" name="Google Shape;266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4" name="Google Shape;274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5" name="Google Shape;27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8" name="Google Shape;27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2" name="Google Shape;28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6" name="Google Shape;286;p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7" name="Google Shape;28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3" name="Google Shape;293;p4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4" name="Google Shape;29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7" name="Google Shape;29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1" name="Google Shape;301;p4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2" name="Google Shape;302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3" name="Google Shape;30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306" name="Google Shape;30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09" name="Google Shape;309;p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0" name="Google Shape;31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3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5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7" name="Google Shape;317;p5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8" name="Google Shape;318;p5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5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5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5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5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5" name="Google Shape;325;p5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" name="Google Shape;329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0" name="Google Shape;330;p5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1" name="Google Shape;331;p5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2" name="Google Shape;332;p5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3" name="Google Shape;333;p5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5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7" name="Google Shape;337;p5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8" name="Google Shape;338;p53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9" name="Google Shape;339;p5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0" name="Google Shape;340;p53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1" name="Google Shape;341;p53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2" name="Google Shape;342;p53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p5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6" name="Google Shape;346;p5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7" name="Google Shape;347;p5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8" name="Google Shape;348;p5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9" name="Google Shape;349;p5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0" name="Google Shape;350;p5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1" name="Google Shape;351;p5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2" name="Google Shape;352;p5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3" name="Google Shape;353;p5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7" name="Google Shape;357;p5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0" name="Google Shape;360;p5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5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5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3" name="Google Shape;363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4" name="Google Shape;364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5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6" name="Google Shape;366;p5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9" name="Google Shape;369;p5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5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1" name="Google Shape;371;p5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2" name="Google Shape;372;p5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4" name="Google Shape;374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5" name="Google Shape;37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7" name="Google Shape;377;p5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8" name="Google Shape;378;p5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4" name="Google Shape;384;p5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5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5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5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5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5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5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 type="title">
  <p:cSld name="TITLE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Google Shape;395;p60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60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97" name="Google Shape;397;p60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98" name="Google Shape;398;p60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99" name="Google Shape;399;p60"/>
          <p:cNvSpPr txBox="1"/>
          <p:nvPr>
            <p:ph type="title"/>
          </p:nvPr>
        </p:nvSpPr>
        <p:spPr>
          <a:xfrm>
            <a:off x="625800" y="1427850"/>
            <a:ext cx="7892400" cy="22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s" type="secHead">
  <p:cSld name="SECTION_HEADER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1"/>
          <p:cNvSpPr txBox="1"/>
          <p:nvPr>
            <p:ph type="title"/>
          </p:nvPr>
        </p:nvSpPr>
        <p:spPr>
          <a:xfrm>
            <a:off x="229050" y="764175"/>
            <a:ext cx="8685900" cy="8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02" name="Google Shape;402;p61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61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04" name="Google Shape;404;p61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05" name="Google Shape;405;p61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ard 1">
  <p:cSld name="TITLE_1">
    <p:bg>
      <p:bgPr>
        <a:solidFill>
          <a:schemeClr val="lt2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7" name="Google Shape;407;p62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62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09" name="Google Shape;409;p62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10" name="Google Shape;410;p62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11" name="Google Shape;411;p62"/>
          <p:cNvSpPr txBox="1"/>
          <p:nvPr>
            <p:ph type="title"/>
          </p:nvPr>
        </p:nvSpPr>
        <p:spPr>
          <a:xfrm>
            <a:off x="625800" y="1427850"/>
            <a:ext cx="7892400" cy="22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to play_1" type="tx">
  <p:cSld name="TITLE_AND_BODY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3"/>
          <p:cNvSpPr txBox="1"/>
          <p:nvPr>
            <p:ph type="title"/>
          </p:nvPr>
        </p:nvSpPr>
        <p:spPr>
          <a:xfrm>
            <a:off x="201750" y="1332250"/>
            <a:ext cx="87579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14" name="Google Shape;414;p63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63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16" name="Google Shape;416;p63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17" name="Google Shape;417;p63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ard 2" type="twoColTx">
  <p:cSld name="TITLE_AND_TWO_COLUMNS">
    <p:bg>
      <p:bgPr>
        <a:solidFill>
          <a:schemeClr val="dk2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9" name="Google Shape;419;p64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64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21" name="Google Shape;421;p64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22" name="Google Shape;422;p64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23" name="Google Shape;423;p64"/>
          <p:cNvSpPr txBox="1"/>
          <p:nvPr>
            <p:ph type="title"/>
          </p:nvPr>
        </p:nvSpPr>
        <p:spPr>
          <a:xfrm>
            <a:off x="625800" y="1427850"/>
            <a:ext cx="7892400" cy="22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ard 3">
  <p:cSld name="TITLE_AND_TWO_COLUMNS_1">
    <p:bg>
      <p:bgPr>
        <a:solidFill>
          <a:schemeClr val="accent1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5" name="Google Shape;425;p65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" name="Google Shape;426;p65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27" name="Google Shape;427;p65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28" name="Google Shape;428;p65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29" name="Google Shape;429;p65"/>
          <p:cNvSpPr txBox="1"/>
          <p:nvPr>
            <p:ph type="title"/>
          </p:nvPr>
        </p:nvSpPr>
        <p:spPr>
          <a:xfrm>
            <a:off x="625800" y="1427850"/>
            <a:ext cx="7892400" cy="22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und" type="titleOnly">
  <p:cSld name="TITLE_ONLY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6"/>
          <p:cNvSpPr txBox="1"/>
          <p:nvPr>
            <p:ph idx="1" type="subTitle"/>
          </p:nvPr>
        </p:nvSpPr>
        <p:spPr>
          <a:xfrm>
            <a:off x="201750" y="629575"/>
            <a:ext cx="5054100" cy="16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32" name="Google Shape;432;p66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" name="Google Shape;433;p66"/>
          <p:cNvSpPr txBox="1"/>
          <p:nvPr>
            <p:ph idx="2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4" name="Google Shape;434;p66"/>
          <p:cNvSpPr txBox="1"/>
          <p:nvPr>
            <p:ph idx="3" type="body"/>
          </p:nvPr>
        </p:nvSpPr>
        <p:spPr>
          <a:xfrm>
            <a:off x="59050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84">
          <p15:clr>
            <a:srgbClr val="E46962"/>
          </p15:clr>
        </p15:guide>
        <p15:guide id="2" orient="horz" pos="691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Winner Is…">
  <p:cSld name="ONE_COLUMN_TEXT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7"/>
          <p:cNvSpPr txBox="1"/>
          <p:nvPr>
            <p:ph type="title"/>
          </p:nvPr>
        </p:nvSpPr>
        <p:spPr>
          <a:xfrm>
            <a:off x="1306050" y="1390350"/>
            <a:ext cx="6531900" cy="14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37" name="Google Shape;437;p67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67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9" name="Google Shape;439;p67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0" name="Google Shape;440;p67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28">
          <p15:clr>
            <a:srgbClr val="E4696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A" type="blank">
  <p:cSld name="BLANK">
    <p:bg>
      <p:bgPr>
        <a:solidFill>
          <a:schemeClr val="accent1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8"/>
          <p:cNvSpPr txBox="1"/>
          <p:nvPr>
            <p:ph type="title"/>
          </p:nvPr>
        </p:nvSpPr>
        <p:spPr>
          <a:xfrm>
            <a:off x="103700" y="4273900"/>
            <a:ext cx="8819400" cy="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43" name="Google Shape;443;p68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4" name="Google Shape;444;p68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5" name="Google Shape;445;p68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6" name="Google Shape;446;p68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96">
          <p15:clr>
            <a:srgbClr val="E4696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B">
  <p:cSld name="BLANK_1">
    <p:bg>
      <p:bgPr>
        <a:solidFill>
          <a:schemeClr val="dk2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9"/>
          <p:cNvSpPr txBox="1"/>
          <p:nvPr>
            <p:ph type="title"/>
          </p:nvPr>
        </p:nvSpPr>
        <p:spPr>
          <a:xfrm>
            <a:off x="103700" y="4273900"/>
            <a:ext cx="8819400" cy="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49" name="Google Shape;449;p69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0" name="Google Shape;450;p69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1" name="Google Shape;451;p69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2" name="Google Shape;452;p69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96">
          <p15:clr>
            <a:srgbClr val="E46962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">
  <p:cSld name="BLANK_2">
    <p:bg>
      <p:bgPr>
        <a:solidFill>
          <a:schemeClr val="lt2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0"/>
          <p:cNvSpPr txBox="1"/>
          <p:nvPr>
            <p:ph type="title"/>
          </p:nvPr>
        </p:nvSpPr>
        <p:spPr>
          <a:xfrm>
            <a:off x="103700" y="4273900"/>
            <a:ext cx="8819400" cy="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55" name="Google Shape;455;p70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70"/>
          <p:cNvSpPr txBox="1"/>
          <p:nvPr>
            <p:ph idx="1" type="body"/>
          </p:nvPr>
        </p:nvSpPr>
        <p:spPr>
          <a:xfrm>
            <a:off x="130025" y="202363"/>
            <a:ext cx="1495200" cy="9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7" name="Google Shape;457;p70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8" name="Google Shape;458;p70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96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58.xml"/><Relationship Id="rId21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59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61.xml"/><Relationship Id="rId28" Type="http://schemas.openxmlformats.org/officeDocument/2006/relationships/slideLayout" Target="../slideLayouts/slideLayout64.xml"/><Relationship Id="rId27" Type="http://schemas.openxmlformats.org/officeDocument/2006/relationships/slideLayout" Target="../slideLayouts/slideLayout63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29" Type="http://schemas.openxmlformats.org/officeDocument/2006/relationships/slideLayout" Target="../slideLayouts/slideLayout65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31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47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46.xml"/><Relationship Id="rId32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3950" y="3166425"/>
            <a:ext cx="64248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78750" y="513900"/>
            <a:ext cx="5802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  <p15:guide id="21" pos="174">
          <p15:clr>
            <a:srgbClr val="E46962"/>
          </p15:clr>
        </p15:guide>
        <p15:guide id="22" pos="5588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"/>
          <p:cNvSpPr txBox="1"/>
          <p:nvPr>
            <p:ph type="title"/>
          </p:nvPr>
        </p:nvSpPr>
        <p:spPr>
          <a:xfrm>
            <a:off x="550900" y="393500"/>
            <a:ext cx="6329700" cy="15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b="1" sz="4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1" name="Google Shape;271;p38"/>
          <p:cNvSpPr txBox="1"/>
          <p:nvPr>
            <p:ph idx="1" type="body"/>
          </p:nvPr>
        </p:nvSpPr>
        <p:spPr>
          <a:xfrm>
            <a:off x="652075" y="3434600"/>
            <a:ext cx="6728700" cy="13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■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■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■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15">
          <p15:clr>
            <a:srgbClr val="E46962"/>
          </p15:clr>
        </p15:guide>
        <p15:guide id="2" pos="115">
          <p15:clr>
            <a:srgbClr val="E46962"/>
          </p15:clr>
        </p15:guide>
        <p15:guide id="3" pos="564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1"/>
          <p:cNvSpPr/>
          <p:nvPr/>
        </p:nvSpPr>
        <p:spPr>
          <a:xfrm rot="922624">
            <a:off x="872394" y="3375916"/>
            <a:ext cx="2039822" cy="927807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4" name="Google Shape;464;p71"/>
          <p:cNvSpPr/>
          <p:nvPr/>
        </p:nvSpPr>
        <p:spPr>
          <a:xfrm rot="-176011">
            <a:off x="6066559" y="730484"/>
            <a:ext cx="2039973" cy="927911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4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5" name="Google Shape;465;p71"/>
          <p:cNvSpPr txBox="1"/>
          <p:nvPr>
            <p:ph idx="1" type="body"/>
          </p:nvPr>
        </p:nvSpPr>
        <p:spPr>
          <a:xfrm>
            <a:off x="130025" y="202377"/>
            <a:ext cx="1495200" cy="3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71"/>
          <p:cNvSpPr txBox="1"/>
          <p:nvPr>
            <p:ph idx="2" type="body"/>
          </p:nvPr>
        </p:nvSpPr>
        <p:spPr>
          <a:xfrm>
            <a:off x="3475575" y="4112400"/>
            <a:ext cx="5527500" cy="10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/>
              <a:t>Ullas Basavapatna Chandrashekar, GWID : G35279315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/>
              <a:t>Vishrutha Ravi, GWID : G23527433</a:t>
            </a:r>
            <a:endParaRPr sz="1400"/>
          </a:p>
        </p:txBody>
      </p:sp>
      <p:sp>
        <p:nvSpPr>
          <p:cNvPr id="467" name="Google Shape;467;p71"/>
          <p:cNvSpPr txBox="1"/>
          <p:nvPr>
            <p:ph idx="3" type="body"/>
          </p:nvPr>
        </p:nvSpPr>
        <p:spPr>
          <a:xfrm flipH="1" rot="10800000">
            <a:off x="6565575" y="139973"/>
            <a:ext cx="82500" cy="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71"/>
          <p:cNvSpPr txBox="1"/>
          <p:nvPr>
            <p:ph type="title"/>
          </p:nvPr>
        </p:nvSpPr>
        <p:spPr>
          <a:xfrm>
            <a:off x="625800" y="1427850"/>
            <a:ext cx="7892400" cy="22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00"/>
              <a:t>Semantic Drift</a:t>
            </a:r>
            <a:endParaRPr sz="1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2"/>
          <p:cNvSpPr txBox="1"/>
          <p:nvPr>
            <p:ph idx="1" type="body"/>
          </p:nvPr>
        </p:nvSpPr>
        <p:spPr>
          <a:xfrm>
            <a:off x="130025" y="202370"/>
            <a:ext cx="1495200" cy="2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72"/>
          <p:cNvSpPr txBox="1"/>
          <p:nvPr>
            <p:ph idx="2" type="body"/>
          </p:nvPr>
        </p:nvSpPr>
        <p:spPr>
          <a:xfrm>
            <a:off x="3326850" y="202367"/>
            <a:ext cx="2490300" cy="2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72"/>
          <p:cNvSpPr txBox="1"/>
          <p:nvPr>
            <p:ph type="title"/>
          </p:nvPr>
        </p:nvSpPr>
        <p:spPr>
          <a:xfrm>
            <a:off x="625800" y="1427850"/>
            <a:ext cx="7892400" cy="22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800"/>
              <a:t>Overview of the task</a:t>
            </a:r>
            <a:endParaRPr sz="9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3"/>
          <p:cNvSpPr txBox="1"/>
          <p:nvPr>
            <p:ph type="title"/>
          </p:nvPr>
        </p:nvSpPr>
        <p:spPr>
          <a:xfrm>
            <a:off x="201750" y="1333950"/>
            <a:ext cx="87579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700"/>
              <a:t>Language changes over time, especially in online communities where new slang and meanings emerge rapidly. This project investigates </a:t>
            </a:r>
            <a:r>
              <a:rPr lang="en" sz="1700"/>
              <a:t>semantic drift</a:t>
            </a:r>
            <a:r>
              <a:rPr b="0" lang="en" sz="1700"/>
              <a:t>, which refers to changes in how words are used or understood across time.</a:t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700"/>
              <a:t>The system analyzes both </a:t>
            </a:r>
            <a:r>
              <a:rPr lang="en" sz="1700"/>
              <a:t>historical text</a:t>
            </a:r>
            <a:r>
              <a:rPr lang="en" sz="1700"/>
              <a:t> corpora and modern social media data</a:t>
            </a:r>
            <a:r>
              <a:rPr b="0" lang="en" sz="1700"/>
              <a:t> to detect how word meanings evolve.</a:t>
            </a:r>
            <a:endParaRPr b="0"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73"/>
          <p:cNvSpPr txBox="1"/>
          <p:nvPr>
            <p:ph idx="1" type="body"/>
          </p:nvPr>
        </p:nvSpPr>
        <p:spPr>
          <a:xfrm>
            <a:off x="130025" y="202372"/>
            <a:ext cx="14952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73"/>
          <p:cNvSpPr txBox="1"/>
          <p:nvPr>
            <p:ph idx="2" type="body"/>
          </p:nvPr>
        </p:nvSpPr>
        <p:spPr>
          <a:xfrm>
            <a:off x="3326850" y="202368"/>
            <a:ext cx="24903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73"/>
          <p:cNvSpPr txBox="1"/>
          <p:nvPr>
            <p:ph idx="3" type="body"/>
          </p:nvPr>
        </p:nvSpPr>
        <p:spPr>
          <a:xfrm>
            <a:off x="6565575" y="202368"/>
            <a:ext cx="44100" cy="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73"/>
          <p:cNvSpPr txBox="1"/>
          <p:nvPr/>
        </p:nvSpPr>
        <p:spPr>
          <a:xfrm flipH="1">
            <a:off x="2892600" y="781936"/>
            <a:ext cx="44100" cy="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74"/>
          <p:cNvSpPr txBox="1"/>
          <p:nvPr>
            <p:ph idx="2" type="body"/>
          </p:nvPr>
        </p:nvSpPr>
        <p:spPr>
          <a:xfrm>
            <a:off x="3326850" y="202368"/>
            <a:ext cx="60000" cy="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74"/>
          <p:cNvSpPr txBox="1"/>
          <p:nvPr>
            <p:ph type="title"/>
          </p:nvPr>
        </p:nvSpPr>
        <p:spPr>
          <a:xfrm>
            <a:off x="491750" y="1322950"/>
            <a:ext cx="7892400" cy="15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00"/>
              <a:t>Research Questions</a:t>
            </a:r>
            <a:endParaRPr sz="1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5"/>
          <p:cNvSpPr txBox="1"/>
          <p:nvPr>
            <p:ph idx="1" type="body"/>
          </p:nvPr>
        </p:nvSpPr>
        <p:spPr>
          <a:xfrm>
            <a:off x="130025" y="202375"/>
            <a:ext cx="1281300" cy="3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75"/>
          <p:cNvSpPr/>
          <p:nvPr/>
        </p:nvSpPr>
        <p:spPr>
          <a:xfrm>
            <a:off x="1231250" y="1115400"/>
            <a:ext cx="2057400" cy="3197700"/>
          </a:xfrm>
          <a:prstGeom prst="roundRect">
            <a:avLst>
              <a:gd fmla="val 87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Can combining </a:t>
            </a:r>
            <a:r>
              <a:rPr b="1" lang="en" sz="1100">
                <a:solidFill>
                  <a:schemeClr val="dk1"/>
                </a:solidFill>
              </a:rPr>
              <a:t>historical text corpora (news articles)</a:t>
            </a:r>
            <a:r>
              <a:rPr lang="en" sz="1100">
                <a:solidFill>
                  <a:schemeClr val="dk1"/>
                </a:solidFill>
              </a:rPr>
              <a:t> with </a:t>
            </a:r>
            <a:r>
              <a:rPr b="1" lang="en" sz="1100">
                <a:solidFill>
                  <a:schemeClr val="dk1"/>
                </a:solidFill>
              </a:rPr>
              <a:t>modern social media data (Reddit)</a:t>
            </a:r>
            <a:r>
              <a:rPr lang="en" sz="1100">
                <a:solidFill>
                  <a:schemeClr val="dk1"/>
                </a:solidFill>
              </a:rPr>
              <a:t> reveal meaningful linguistic evolution in word usage?</a:t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97" name="Google Shape;497;p75"/>
          <p:cNvSpPr/>
          <p:nvPr/>
        </p:nvSpPr>
        <p:spPr>
          <a:xfrm>
            <a:off x="3476250" y="1115400"/>
            <a:ext cx="2057400" cy="3197700"/>
          </a:xfrm>
          <a:prstGeom prst="roundRect">
            <a:avLst>
              <a:gd fmla="val 87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>
                <a:solidFill>
                  <a:schemeClr val="dk1"/>
                </a:solidFill>
              </a:rPr>
              <a:t>Do modern internet communities </a:t>
            </a:r>
            <a:r>
              <a:rPr b="1" lang="en" sz="1100">
                <a:solidFill>
                  <a:schemeClr val="dk1"/>
                </a:solidFill>
              </a:rPr>
              <a:t>replace older meanings of words or introduce additional meanings?</a:t>
            </a:r>
            <a:endParaRPr b="1"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98" name="Google Shape;498;p75"/>
          <p:cNvSpPr/>
          <p:nvPr/>
        </p:nvSpPr>
        <p:spPr>
          <a:xfrm>
            <a:off x="5721250" y="1115400"/>
            <a:ext cx="2057400" cy="3197700"/>
          </a:xfrm>
          <a:prstGeom prst="roundRect">
            <a:avLst>
              <a:gd fmla="val 87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>
                <a:solidFill>
                  <a:schemeClr val="dk1"/>
                </a:solidFill>
              </a:rPr>
              <a:t>How can we automatically detect </a:t>
            </a:r>
            <a:r>
              <a:rPr b="1" lang="en" sz="1100">
                <a:solidFill>
                  <a:schemeClr val="dk1"/>
                </a:solidFill>
              </a:rPr>
              <a:t>semantic drift</a:t>
            </a:r>
            <a:r>
              <a:rPr lang="en" sz="1100">
                <a:solidFill>
                  <a:schemeClr val="dk1"/>
                </a:solidFill>
              </a:rPr>
              <a:t> using contextual embeddings?</a:t>
            </a:r>
            <a:endParaRPr b="1"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6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76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76"/>
          <p:cNvSpPr txBox="1"/>
          <p:nvPr>
            <p:ph type="title"/>
          </p:nvPr>
        </p:nvSpPr>
        <p:spPr>
          <a:xfrm>
            <a:off x="80375" y="1661325"/>
            <a:ext cx="8819400" cy="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200"/>
              <a:t>Motivation</a:t>
            </a:r>
            <a:endParaRPr sz="1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0">
              <a:latin typeface="Noto Emoji"/>
              <a:ea typeface="Noto Emoji"/>
              <a:cs typeface="Noto Emoji"/>
              <a:sym typeface="Noto Emoj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7"/>
          <p:cNvSpPr txBox="1"/>
          <p:nvPr>
            <p:ph type="title"/>
          </p:nvPr>
        </p:nvSpPr>
        <p:spPr>
          <a:xfrm>
            <a:off x="193050" y="459200"/>
            <a:ext cx="8757900" cy="36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700"/>
              <a:t>Language evolves continuously, especially in digital communities where new expressions, slang, and meanings spread quickly.</a:t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700"/>
              <a:t>For example :</a:t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700"/>
              <a:t>Traditional linguistic research studies semantic change manually using historical texts.</a:t>
            </a:r>
            <a:endParaRPr b="0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700"/>
              <a:t>However, online communities generate new language extremely fast!</a:t>
            </a:r>
            <a:endParaRPr b="0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700"/>
              <a:t>Detecting when meaningful linguistic changes occur can help determine when ML models need retraining.</a:t>
            </a:r>
            <a:endParaRPr b="0" sz="23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77"/>
          <p:cNvSpPr txBox="1"/>
          <p:nvPr>
            <p:ph idx="1" type="body"/>
          </p:nvPr>
        </p:nvSpPr>
        <p:spPr>
          <a:xfrm>
            <a:off x="130025" y="202372"/>
            <a:ext cx="14952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77"/>
          <p:cNvSpPr txBox="1"/>
          <p:nvPr>
            <p:ph idx="2" type="body"/>
          </p:nvPr>
        </p:nvSpPr>
        <p:spPr>
          <a:xfrm>
            <a:off x="3326850" y="202368"/>
            <a:ext cx="24903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77"/>
          <p:cNvSpPr txBox="1"/>
          <p:nvPr>
            <p:ph idx="3" type="body"/>
          </p:nvPr>
        </p:nvSpPr>
        <p:spPr>
          <a:xfrm>
            <a:off x="6565575" y="202368"/>
            <a:ext cx="44100" cy="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77"/>
          <p:cNvSpPr txBox="1"/>
          <p:nvPr/>
        </p:nvSpPr>
        <p:spPr>
          <a:xfrm flipH="1">
            <a:off x="2892600" y="781936"/>
            <a:ext cx="44100" cy="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aphicFrame>
        <p:nvGraphicFramePr>
          <p:cNvPr id="515" name="Google Shape;515;p77"/>
          <p:cNvGraphicFramePr/>
          <p:nvPr/>
        </p:nvGraphicFramePr>
        <p:xfrm>
          <a:off x="952500" y="180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{88FFB23F-A1E1-4FA3-A69C-21A98173DA45}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Word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Historical Meaning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Modern Meaning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</a:t>
                      </a: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loud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Weather phenomenon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Cloud computing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Tablet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Medicine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Digital Device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8"/>
          <p:cNvSpPr txBox="1"/>
          <p:nvPr>
            <p:ph idx="1" type="body"/>
          </p:nvPr>
        </p:nvSpPr>
        <p:spPr>
          <a:xfrm>
            <a:off x="130025" y="202370"/>
            <a:ext cx="1495200" cy="2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78"/>
          <p:cNvSpPr txBox="1"/>
          <p:nvPr>
            <p:ph idx="2" type="body"/>
          </p:nvPr>
        </p:nvSpPr>
        <p:spPr>
          <a:xfrm>
            <a:off x="3326850" y="202367"/>
            <a:ext cx="2490300" cy="2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78"/>
          <p:cNvSpPr txBox="1"/>
          <p:nvPr>
            <p:ph type="title"/>
          </p:nvPr>
        </p:nvSpPr>
        <p:spPr>
          <a:xfrm>
            <a:off x="625800" y="1497850"/>
            <a:ext cx="7892400" cy="22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0"/>
              <a:t>Contributions</a:t>
            </a:r>
            <a:endParaRPr sz="8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9"/>
          <p:cNvSpPr txBox="1"/>
          <p:nvPr>
            <p:ph type="title"/>
          </p:nvPr>
        </p:nvSpPr>
        <p:spPr>
          <a:xfrm>
            <a:off x="193050" y="725250"/>
            <a:ext cx="8757900" cy="36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Data Preparation 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600"/>
              <a:t>Responsible for preparing and organizing the datasets used in the project.</a:t>
            </a: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0" lang="en" sz="1600"/>
              <a:t>Collected and prepared Reddit datasets from target communities for new meaning sentences.</a:t>
            </a: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0" lang="en" sz="1600"/>
              <a:t>Implemented the data preprocessing pipeline for Reddit comments.</a:t>
            </a: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0" lang="en" sz="1600"/>
              <a:t>Used subreddits : </a:t>
            </a:r>
            <a:endParaRPr b="0"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0" lang="en" sz="1600"/>
              <a:t>AskReddit</a:t>
            </a:r>
            <a:endParaRPr b="0"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0" lang="en" sz="1600"/>
              <a:t>Youtube </a:t>
            </a:r>
            <a:endParaRPr b="0"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0" lang="en" sz="1600"/>
              <a:t>GenZ </a:t>
            </a:r>
            <a:endParaRPr b="0"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0" lang="en" sz="1600"/>
              <a:t>GenAlpha </a:t>
            </a:r>
            <a:endParaRPr b="0"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0" lang="en" sz="1600"/>
              <a:t>Decadeology</a:t>
            </a: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0" lang="en" sz="1600"/>
              <a:t>Used news dataset for old meaning sentences from Kaggle.</a:t>
            </a:r>
            <a:endParaRPr b="0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79"/>
          <p:cNvSpPr txBox="1"/>
          <p:nvPr>
            <p:ph idx="1" type="body"/>
          </p:nvPr>
        </p:nvSpPr>
        <p:spPr>
          <a:xfrm>
            <a:off x="130025" y="202372"/>
            <a:ext cx="14952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79"/>
          <p:cNvSpPr txBox="1"/>
          <p:nvPr>
            <p:ph idx="2" type="body"/>
          </p:nvPr>
        </p:nvSpPr>
        <p:spPr>
          <a:xfrm>
            <a:off x="3326850" y="202368"/>
            <a:ext cx="24903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79"/>
          <p:cNvSpPr txBox="1"/>
          <p:nvPr>
            <p:ph idx="3" type="body"/>
          </p:nvPr>
        </p:nvSpPr>
        <p:spPr>
          <a:xfrm>
            <a:off x="6565575" y="202368"/>
            <a:ext cx="44100" cy="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79"/>
          <p:cNvSpPr txBox="1"/>
          <p:nvPr/>
        </p:nvSpPr>
        <p:spPr>
          <a:xfrm flipH="1">
            <a:off x="2892600" y="781936"/>
            <a:ext cx="44100" cy="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80"/>
          <p:cNvSpPr txBox="1"/>
          <p:nvPr>
            <p:ph type="title"/>
          </p:nvPr>
        </p:nvSpPr>
        <p:spPr>
          <a:xfrm>
            <a:off x="193050" y="459200"/>
            <a:ext cx="8757900" cy="36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Preprocessing</a:t>
            </a:r>
            <a:r>
              <a:rPr b="0" lang="en" sz="1600"/>
              <a:t>:</a:t>
            </a: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0" lang="en" sz="1600"/>
              <a:t>Cleaned text data by removing URLs, special characters, and normalizing text.</a:t>
            </a: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0" lang="en" sz="1600"/>
              <a:t>Structured the Reddit data into monthly JSONL files to support temporal analysis.</a:t>
            </a: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0" lang="en" sz="1600"/>
              <a:t>For news dataset, downloaded and extracted word frequency timelines.</a:t>
            </a: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0" lang="en" sz="1600"/>
              <a:t>Designed the project pipeline</a:t>
            </a:r>
            <a:endParaRPr b="0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80"/>
          <p:cNvSpPr txBox="1"/>
          <p:nvPr>
            <p:ph idx="1" type="body"/>
          </p:nvPr>
        </p:nvSpPr>
        <p:spPr>
          <a:xfrm>
            <a:off x="130025" y="202372"/>
            <a:ext cx="14952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80"/>
          <p:cNvSpPr txBox="1"/>
          <p:nvPr>
            <p:ph idx="2" type="body"/>
          </p:nvPr>
        </p:nvSpPr>
        <p:spPr>
          <a:xfrm>
            <a:off x="3326850" y="202368"/>
            <a:ext cx="24903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80"/>
          <p:cNvSpPr txBox="1"/>
          <p:nvPr>
            <p:ph idx="3" type="body"/>
          </p:nvPr>
        </p:nvSpPr>
        <p:spPr>
          <a:xfrm>
            <a:off x="6565575" y="202368"/>
            <a:ext cx="44100" cy="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80"/>
          <p:cNvSpPr txBox="1"/>
          <p:nvPr/>
        </p:nvSpPr>
        <p:spPr>
          <a:xfrm flipH="1">
            <a:off x="2892600" y="781936"/>
            <a:ext cx="44100" cy="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81"/>
          <p:cNvSpPr txBox="1"/>
          <p:nvPr>
            <p:ph type="title"/>
          </p:nvPr>
        </p:nvSpPr>
        <p:spPr>
          <a:xfrm>
            <a:off x="193050" y="51000"/>
            <a:ext cx="8757900" cy="36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Semantic Analysis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600"/>
              <a:t>Responsible for implementing the core analysis pipeline and semantic drift detection system.</a:t>
            </a:r>
            <a:endParaRPr b="0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600"/>
              <a:t>Main contributions:</a:t>
            </a: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0" lang="en" sz="1600"/>
              <a:t>Implemented Sentence Transformer embeddings to represent contextual meaning.</a:t>
            </a: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b="0" lang="en" sz="1600"/>
              <a:t>Implemented the old vs new meaning classification using K-Means Clustering.</a:t>
            </a:r>
            <a:endParaRPr b="0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0" lang="en" sz="1600"/>
              <a:t>Developed visualization system using UMAP.</a:t>
            </a:r>
            <a:endParaRPr b="0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Evaluation</a:t>
            </a:r>
            <a:r>
              <a:rPr b="0" lang="en" sz="1600"/>
              <a:t>:</a:t>
            </a:r>
            <a:endParaRPr b="0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600"/>
              <a:t>Cosine similarity -&gt; Drift score</a:t>
            </a:r>
            <a:endParaRPr b="0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600"/>
              <a:t>Silhouette Score and Noise Ratio</a:t>
            </a:r>
            <a:endParaRPr b="0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81"/>
          <p:cNvSpPr txBox="1"/>
          <p:nvPr>
            <p:ph idx="1" type="body"/>
          </p:nvPr>
        </p:nvSpPr>
        <p:spPr>
          <a:xfrm>
            <a:off x="130025" y="202372"/>
            <a:ext cx="14952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81"/>
          <p:cNvSpPr txBox="1"/>
          <p:nvPr>
            <p:ph idx="2" type="body"/>
          </p:nvPr>
        </p:nvSpPr>
        <p:spPr>
          <a:xfrm>
            <a:off x="3326850" y="202368"/>
            <a:ext cx="24903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81"/>
          <p:cNvSpPr txBox="1"/>
          <p:nvPr>
            <p:ph idx="3" type="body"/>
          </p:nvPr>
        </p:nvSpPr>
        <p:spPr>
          <a:xfrm>
            <a:off x="6565575" y="202368"/>
            <a:ext cx="44100" cy="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81"/>
          <p:cNvSpPr txBox="1"/>
          <p:nvPr/>
        </p:nvSpPr>
        <p:spPr>
          <a:xfrm flipH="1">
            <a:off x="2892600" y="781936"/>
            <a:ext cx="44100" cy="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82"/>
          <p:cNvSpPr txBox="1"/>
          <p:nvPr>
            <p:ph idx="2" type="body"/>
          </p:nvPr>
        </p:nvSpPr>
        <p:spPr>
          <a:xfrm>
            <a:off x="3326850" y="202368"/>
            <a:ext cx="60000" cy="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82"/>
          <p:cNvSpPr txBox="1"/>
          <p:nvPr>
            <p:ph type="title"/>
          </p:nvPr>
        </p:nvSpPr>
        <p:spPr>
          <a:xfrm>
            <a:off x="491750" y="1322950"/>
            <a:ext cx="7892400" cy="15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00"/>
              <a:t>Literature Review</a:t>
            </a:r>
            <a:endParaRPr sz="1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83"/>
          <p:cNvSpPr txBox="1"/>
          <p:nvPr>
            <p:ph type="title"/>
          </p:nvPr>
        </p:nvSpPr>
        <p:spPr>
          <a:xfrm>
            <a:off x="193050" y="459200"/>
            <a:ext cx="8757900" cy="36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Several studies have explored semantic change in language using contextual embeddings.</a:t>
            </a:r>
            <a:endParaRPr b="0" sz="1700"/>
          </a:p>
          <a:p>
            <a:pPr indent="-3365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/>
              <a:t>Hamilton et al. (2016)</a:t>
            </a:r>
            <a:r>
              <a:rPr b="0" lang="en" sz="1700"/>
              <a:t> studied diachronic word embeddings to measure semantic change over time using historical corpora. Their work introduced quantitative methods for measuring semantic drift. </a:t>
            </a:r>
            <a:endParaRPr b="0" sz="1700"/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/>
              <a:t>Kutuzov et al. (2018)</a:t>
            </a:r>
            <a:r>
              <a:rPr b="0" lang="en" sz="1700"/>
              <a:t> provided a comprehensive survey of computational approaches for detecting lexical semantic change using neural embeddings and temporal corpora.</a:t>
            </a:r>
            <a:endParaRPr b="0" sz="1700"/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/>
              <a:t>Garg et al. (2018)</a:t>
            </a:r>
            <a:r>
              <a:rPr b="0" lang="en" sz="1700"/>
              <a:t> demonstrated that contextual word embeddings can capture temporal linguistic shifts and societal biases across decades of text.</a:t>
            </a:r>
            <a:endParaRPr b="0" sz="17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83"/>
          <p:cNvSpPr txBox="1"/>
          <p:nvPr>
            <p:ph idx="1" type="body"/>
          </p:nvPr>
        </p:nvSpPr>
        <p:spPr>
          <a:xfrm>
            <a:off x="130025" y="202372"/>
            <a:ext cx="14952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83"/>
          <p:cNvSpPr txBox="1"/>
          <p:nvPr>
            <p:ph idx="2" type="body"/>
          </p:nvPr>
        </p:nvSpPr>
        <p:spPr>
          <a:xfrm>
            <a:off x="3326850" y="202368"/>
            <a:ext cx="24903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83"/>
          <p:cNvSpPr txBox="1"/>
          <p:nvPr>
            <p:ph idx="3" type="body"/>
          </p:nvPr>
        </p:nvSpPr>
        <p:spPr>
          <a:xfrm>
            <a:off x="6565575" y="202368"/>
            <a:ext cx="44100" cy="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83"/>
          <p:cNvSpPr txBox="1"/>
          <p:nvPr/>
        </p:nvSpPr>
        <p:spPr>
          <a:xfrm flipH="1">
            <a:off x="2892600" y="781936"/>
            <a:ext cx="44100" cy="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84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84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84"/>
          <p:cNvSpPr txBox="1"/>
          <p:nvPr>
            <p:ph type="title"/>
          </p:nvPr>
        </p:nvSpPr>
        <p:spPr>
          <a:xfrm>
            <a:off x="2015800" y="1053475"/>
            <a:ext cx="8819400" cy="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9600"/>
              <a:t>Project Pipeline</a:t>
            </a:r>
            <a:endParaRPr sz="9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0">
              <a:latin typeface="Noto Emoji"/>
              <a:ea typeface="Noto Emoji"/>
              <a:cs typeface="Noto Emoji"/>
              <a:sym typeface="Noto Emoj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85"/>
          <p:cNvSpPr txBox="1"/>
          <p:nvPr>
            <p:ph type="title"/>
          </p:nvPr>
        </p:nvSpPr>
        <p:spPr>
          <a:xfrm>
            <a:off x="193050" y="459200"/>
            <a:ext cx="8757900" cy="36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Why K-Means</a:t>
            </a:r>
            <a:r>
              <a:rPr b="0" lang="en" sz="1700"/>
              <a:t> :</a:t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700"/>
              <a:t>K-Means cleanly separates sentence embeddings into a small number of interpretable clusters, where each cluster corresponds to a different meaning of the word.</a:t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85"/>
          <p:cNvSpPr txBox="1"/>
          <p:nvPr>
            <p:ph idx="1" type="body"/>
          </p:nvPr>
        </p:nvSpPr>
        <p:spPr>
          <a:xfrm>
            <a:off x="130025" y="202372"/>
            <a:ext cx="14952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85"/>
          <p:cNvSpPr txBox="1"/>
          <p:nvPr>
            <p:ph idx="2" type="body"/>
          </p:nvPr>
        </p:nvSpPr>
        <p:spPr>
          <a:xfrm>
            <a:off x="3326850" y="202368"/>
            <a:ext cx="24903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85"/>
          <p:cNvSpPr txBox="1"/>
          <p:nvPr>
            <p:ph idx="3" type="body"/>
          </p:nvPr>
        </p:nvSpPr>
        <p:spPr>
          <a:xfrm>
            <a:off x="6565575" y="202368"/>
            <a:ext cx="44100" cy="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85"/>
          <p:cNvSpPr txBox="1"/>
          <p:nvPr/>
        </p:nvSpPr>
        <p:spPr>
          <a:xfrm flipH="1">
            <a:off x="2892600" y="781936"/>
            <a:ext cx="44100" cy="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581" name="Google Shape;581;p85" title="Screenshot 2026-04-16 at 1.05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52050"/>
            <a:ext cx="9144003" cy="136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86"/>
          <p:cNvSpPr txBox="1"/>
          <p:nvPr>
            <p:ph idx="1" type="body"/>
          </p:nvPr>
        </p:nvSpPr>
        <p:spPr>
          <a:xfrm>
            <a:off x="130025" y="202370"/>
            <a:ext cx="1495200" cy="2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86"/>
          <p:cNvSpPr txBox="1"/>
          <p:nvPr>
            <p:ph idx="2" type="body"/>
          </p:nvPr>
        </p:nvSpPr>
        <p:spPr>
          <a:xfrm>
            <a:off x="3326850" y="202367"/>
            <a:ext cx="2490300" cy="2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86"/>
          <p:cNvSpPr txBox="1"/>
          <p:nvPr>
            <p:ph type="title"/>
          </p:nvPr>
        </p:nvSpPr>
        <p:spPr>
          <a:xfrm>
            <a:off x="625800" y="1124600"/>
            <a:ext cx="7892400" cy="22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800"/>
              <a:t>Results and evaluation metrics</a:t>
            </a:r>
            <a:endParaRPr sz="9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7"/>
          <p:cNvSpPr txBox="1"/>
          <p:nvPr>
            <p:ph type="title"/>
          </p:nvPr>
        </p:nvSpPr>
        <p:spPr>
          <a:xfrm>
            <a:off x="193050" y="4019075"/>
            <a:ext cx="8757900" cy="10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700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lang="en" sz="1200"/>
              <a:t>	Number of contexts analyzed:	 </a:t>
            </a:r>
            <a:r>
              <a:rPr b="0" i="1" lang="en" sz="1200"/>
              <a:t>mouse</a:t>
            </a:r>
            <a:r>
              <a:rPr b="0" lang="en" sz="1200"/>
              <a:t>: 1500 (news) + 2663 (Reddit)</a:t>
            </a:r>
            <a:endParaRPr b="0" sz="1200"/>
          </a:p>
          <a:p>
            <a:pPr indent="45720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1" lang="en" sz="1200"/>
              <a:t>Drift Score : mouse</a:t>
            </a:r>
            <a:r>
              <a:rPr b="0" lang="en" sz="1200"/>
              <a:t>: </a:t>
            </a:r>
            <a:r>
              <a:rPr lang="en" sz="1200"/>
              <a:t>0.125</a:t>
            </a:r>
            <a:r>
              <a:rPr b="0" lang="en" sz="1200"/>
              <a:t> (partial/moderate drift), which means both meanings exist.	</a:t>
            </a:r>
            <a:r>
              <a:rPr b="0" lang="en" sz="1700"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endParaRPr b="0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87"/>
          <p:cNvSpPr txBox="1"/>
          <p:nvPr>
            <p:ph idx="1" type="body"/>
          </p:nvPr>
        </p:nvSpPr>
        <p:spPr>
          <a:xfrm>
            <a:off x="130025" y="202372"/>
            <a:ext cx="14952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87"/>
          <p:cNvSpPr txBox="1"/>
          <p:nvPr>
            <p:ph idx="2" type="body"/>
          </p:nvPr>
        </p:nvSpPr>
        <p:spPr>
          <a:xfrm>
            <a:off x="3326850" y="202368"/>
            <a:ext cx="24903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87"/>
          <p:cNvSpPr txBox="1"/>
          <p:nvPr>
            <p:ph idx="3" type="body"/>
          </p:nvPr>
        </p:nvSpPr>
        <p:spPr>
          <a:xfrm>
            <a:off x="6565575" y="202368"/>
            <a:ext cx="44100" cy="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87"/>
          <p:cNvSpPr txBox="1"/>
          <p:nvPr/>
        </p:nvSpPr>
        <p:spPr>
          <a:xfrm flipH="1">
            <a:off x="2892600" y="781936"/>
            <a:ext cx="44100" cy="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598" name="Google Shape;59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275" y="248575"/>
            <a:ext cx="6437950" cy="362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88"/>
          <p:cNvSpPr txBox="1"/>
          <p:nvPr>
            <p:ph type="title"/>
          </p:nvPr>
        </p:nvSpPr>
        <p:spPr>
          <a:xfrm>
            <a:off x="193050" y="3324025"/>
            <a:ext cx="8757900" cy="17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700">
                <a:latin typeface="Times New Roman"/>
                <a:ea typeface="Times New Roman"/>
                <a:cs typeface="Times New Roman"/>
                <a:sym typeface="Times New Roman"/>
              </a:rPr>
              <a:t>									</a:t>
            </a:r>
            <a:endParaRPr b="0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88"/>
          <p:cNvSpPr txBox="1"/>
          <p:nvPr>
            <p:ph idx="1" type="body"/>
          </p:nvPr>
        </p:nvSpPr>
        <p:spPr>
          <a:xfrm>
            <a:off x="130025" y="202404"/>
            <a:ext cx="8832000" cy="41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Cluster 0 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But end-users have traditionally downloaded megabytes of information from the web, while uploading only kilobytes of key strokes and mouse clicks.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Finally, when Google shows you its suggested driving route on the map, you can drag that line onto another road with your mouse.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We then watch a video of a driver's-eye view of a road (somewhere in Reading, according to the signposts) and click our mouse when we see a hazard.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Internet Explorer rather redundantly displays the "alt" tag when the mouse is hovered over the image; Firefox doesn't bother because no alternative is needed and there is a `title' tag for captions.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Now businesses are increasingly using networking tools such as LinkedIn and Facebook to identify those people with the click of a mouse.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The Air Mouse is a rechargeable cordless mouse that can control a windows PC by being moved through the air or on a flat surface.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They're tracking where your mouse is on the page, what you put in your shopping cart, what you don't buy.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Review: Logitech VX Nano Cordless Laser Mouse praise-worthy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If you miss the scroll bar found on almost every Windows laptops, the two-finger scroll option works well (run two fingers down the touch pad, and it scrolls like a mouse wheel).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Cluster 1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An Oklahoma State University lab in Stillwater in December could not account for a dead mouse inoculated with bacteria that causes joint pain, weakness, lymph node swelling and pneumonia.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The only time I thought "what's she got me into now?" was when I was ice skating, holding hands with Minnie Mouse.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Across the park, hot dog vendors sought refuge under the palm trees" slowly shifting shadows, their carts painted with slap-dash cartoon characters like a Mickeyesque mouse and a clumsily drawn Pokémon.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Obama Gobbles Down Mouse _ Made of Candy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Importantly, in the presence of HIV, ZFN-modified CD4 T-cells also preferentially expanded in a mouse model.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Mouse virus link to breast cancer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After 40 minutes or so, the upstairs contingent was escorted to a smaller room below, where Mr. Roccoli, dressed in white pants and a grubby Mickey Mouse T-shirt (unbecoming indeed), performed a solo to more extracts from interviews and some uncredited songs.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In one neighborhood of Rawalpindi, police played a cat-and-mouse game with the protesters.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Christmas cracker contains dead mouse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She may be 79 years old, but Minnie Mouse inspires very up to the minute designers.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88"/>
          <p:cNvSpPr txBox="1"/>
          <p:nvPr>
            <p:ph idx="2" type="body"/>
          </p:nvPr>
        </p:nvSpPr>
        <p:spPr>
          <a:xfrm>
            <a:off x="3326850" y="202368"/>
            <a:ext cx="24903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88"/>
          <p:cNvSpPr txBox="1"/>
          <p:nvPr>
            <p:ph idx="3" type="body"/>
          </p:nvPr>
        </p:nvSpPr>
        <p:spPr>
          <a:xfrm>
            <a:off x="6565575" y="202368"/>
            <a:ext cx="44100" cy="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88"/>
          <p:cNvSpPr txBox="1"/>
          <p:nvPr/>
        </p:nvSpPr>
        <p:spPr>
          <a:xfrm flipH="1">
            <a:off x="2892600" y="781936"/>
            <a:ext cx="44100" cy="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89"/>
          <p:cNvSpPr txBox="1"/>
          <p:nvPr>
            <p:ph type="title"/>
          </p:nvPr>
        </p:nvSpPr>
        <p:spPr>
          <a:xfrm>
            <a:off x="193050" y="459200"/>
            <a:ext cx="8757900" cy="36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200"/>
          </a:p>
          <a:p>
            <a:pPr indent="457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200"/>
              <a:t>Number of contexts analyzed:	  </a:t>
            </a:r>
            <a:r>
              <a:rPr b="0" i="1" lang="en" sz="1200"/>
              <a:t>viral</a:t>
            </a:r>
            <a:r>
              <a:rPr b="0" lang="en" sz="1200"/>
              <a:t>: 1500 (news) + 2787 (Reddit)</a:t>
            </a:r>
            <a:endParaRPr b="0" sz="1200"/>
          </a:p>
          <a:p>
            <a:pPr indent="45720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" sz="1200"/>
              <a:t>Drift Score : viral: </a:t>
            </a:r>
            <a:r>
              <a:rPr lang="en" sz="1200"/>
              <a:t>0.289</a:t>
            </a:r>
            <a:r>
              <a:rPr b="0" lang="en" sz="1200"/>
              <a:t> (high drift), which means new meaning dominates</a:t>
            </a:r>
            <a:r>
              <a:rPr b="0" lang="en" sz="1100"/>
              <a:t>.</a:t>
            </a:r>
            <a:endParaRPr b="0" sz="12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89"/>
          <p:cNvSpPr txBox="1"/>
          <p:nvPr>
            <p:ph idx="1" type="body"/>
          </p:nvPr>
        </p:nvSpPr>
        <p:spPr>
          <a:xfrm>
            <a:off x="130025" y="202372"/>
            <a:ext cx="14952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89"/>
          <p:cNvSpPr txBox="1"/>
          <p:nvPr>
            <p:ph idx="2" type="body"/>
          </p:nvPr>
        </p:nvSpPr>
        <p:spPr>
          <a:xfrm>
            <a:off x="3326850" y="202368"/>
            <a:ext cx="24903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89"/>
          <p:cNvSpPr txBox="1"/>
          <p:nvPr>
            <p:ph idx="3" type="body"/>
          </p:nvPr>
        </p:nvSpPr>
        <p:spPr>
          <a:xfrm>
            <a:off x="6565575" y="202368"/>
            <a:ext cx="44100" cy="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89"/>
          <p:cNvSpPr txBox="1"/>
          <p:nvPr/>
        </p:nvSpPr>
        <p:spPr>
          <a:xfrm flipH="1">
            <a:off x="2892600" y="781936"/>
            <a:ext cx="44100" cy="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17" name="Google Shape;61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3841" y="321775"/>
            <a:ext cx="5390209" cy="369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90"/>
          <p:cNvSpPr txBox="1"/>
          <p:nvPr>
            <p:ph type="title"/>
          </p:nvPr>
        </p:nvSpPr>
        <p:spPr>
          <a:xfrm>
            <a:off x="193050" y="3324025"/>
            <a:ext cx="8757900" cy="17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700">
                <a:latin typeface="Times New Roman"/>
                <a:ea typeface="Times New Roman"/>
                <a:cs typeface="Times New Roman"/>
                <a:sym typeface="Times New Roman"/>
              </a:rPr>
              <a:t>									</a:t>
            </a:r>
            <a:endParaRPr b="0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90"/>
          <p:cNvSpPr txBox="1"/>
          <p:nvPr>
            <p:ph idx="1" type="body"/>
          </p:nvPr>
        </p:nvSpPr>
        <p:spPr>
          <a:xfrm>
            <a:off x="130025" y="202399"/>
            <a:ext cx="8832000" cy="48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Cluster 0 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Doing the 'Aunt Jackie': A Harlem-filmed rap video goes viral on MySpace.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Our launch program is built on a Viral Marketing and college grassroots strategy to capitalize on the inherent appeal that we believe ThePeeq.com will have with their audience.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Viral events are unpredictable.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By some estimates, the Star Wars kid is the most popular viral video ever, and viewed over one billion times.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A writer pays for breaking the strike in this "viral" video "Viral" video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There's no evidence that Adblock Plus or similar products are about to go viral.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Launched by Sean Parker (a Zuckerberg pal and partner in the Founders Fund, which owns a stake in Facebook) and Joe Green, the application allows Facebook users to tap into the latent viral power of their social networks for good causes.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Add in the viral nature of the contest and it proved to be a winning formula.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Loiacono, a Warcraft fan, was looking to create some viral buzz for his start-up, a social networking site called Voig aimed at bringing video game fans together.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The four artists left standing will battle it out for the (not contagious) "Viral Woodie."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Cluster: 1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The investigational vaccine used in both ... studies cannot cause HIV infection because it contains only synthetically produced snippets of viral material.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A viral heart infection called cardiomyopathy is to blame, People magazine reports.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Two other wards at the hospital have closed to new admissions because three patients have suspected viral gastroenteritis.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Using the company's proprietary virus-like particle (VLP) and Novasome (R) adjuvant technologies, Novavax is developing vaccines to protect against H5N1 pandemic influenza, seasonal flu and other viral diseases.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treatment options (which could include surgery, radiation, chemotherapy, transplants, clinical trials, biological, hormonal, viral and complementary therapies and alternative therapies),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Idenix Pharmaceuticals, Inc., headquartered in Cambridge, Massachusetts, is a biopharmaceutical company engaged in the discovery, development and commercialization of drugs for the treatment of human viral and other infectious diseases.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Meningococcal disease often begins with symptoms that can be mistaken for common viral illnesses, such as the flu.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 The animal which tested positive had one of the highest viral counts ever observed in a red squirrel, said Dr Shuttleworth, and it was likely that other wild red squirrels would have been exposed to the virus.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90"/>
          <p:cNvSpPr txBox="1"/>
          <p:nvPr>
            <p:ph idx="2" type="body"/>
          </p:nvPr>
        </p:nvSpPr>
        <p:spPr>
          <a:xfrm>
            <a:off x="3326850" y="202368"/>
            <a:ext cx="24903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90"/>
          <p:cNvSpPr txBox="1"/>
          <p:nvPr>
            <p:ph idx="3" type="body"/>
          </p:nvPr>
        </p:nvSpPr>
        <p:spPr>
          <a:xfrm>
            <a:off x="6565575" y="202368"/>
            <a:ext cx="44100" cy="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90"/>
          <p:cNvSpPr txBox="1"/>
          <p:nvPr/>
        </p:nvSpPr>
        <p:spPr>
          <a:xfrm flipH="1">
            <a:off x="2892600" y="781936"/>
            <a:ext cx="44100" cy="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91"/>
          <p:cNvSpPr txBox="1"/>
          <p:nvPr>
            <p:ph type="title"/>
          </p:nvPr>
        </p:nvSpPr>
        <p:spPr>
          <a:xfrm>
            <a:off x="193050" y="3324025"/>
            <a:ext cx="8757900" cy="17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700">
                <a:latin typeface="Times New Roman"/>
                <a:ea typeface="Times New Roman"/>
                <a:cs typeface="Times New Roman"/>
                <a:sym typeface="Times New Roman"/>
              </a:rPr>
              <a:t>									</a:t>
            </a:r>
            <a:endParaRPr b="0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91"/>
          <p:cNvSpPr txBox="1"/>
          <p:nvPr>
            <p:ph idx="1" type="body"/>
          </p:nvPr>
        </p:nvSpPr>
        <p:spPr>
          <a:xfrm>
            <a:off x="130025" y="202399"/>
            <a:ext cx="8832000" cy="48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Clustering Comparison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91"/>
          <p:cNvSpPr txBox="1"/>
          <p:nvPr>
            <p:ph idx="2" type="body"/>
          </p:nvPr>
        </p:nvSpPr>
        <p:spPr>
          <a:xfrm>
            <a:off x="3326850" y="202368"/>
            <a:ext cx="24903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91"/>
          <p:cNvSpPr txBox="1"/>
          <p:nvPr>
            <p:ph idx="3" type="body"/>
          </p:nvPr>
        </p:nvSpPr>
        <p:spPr>
          <a:xfrm>
            <a:off x="6565575" y="202368"/>
            <a:ext cx="44100" cy="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91"/>
          <p:cNvSpPr txBox="1"/>
          <p:nvPr/>
        </p:nvSpPr>
        <p:spPr>
          <a:xfrm flipH="1">
            <a:off x="2892600" y="781936"/>
            <a:ext cx="44100" cy="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36" name="Google Shape;636;p91" title="Screenshot 2026-04-21 at 2.03.2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02650"/>
            <a:ext cx="9143999" cy="24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92"/>
          <p:cNvSpPr txBox="1"/>
          <p:nvPr>
            <p:ph idx="2" type="body"/>
          </p:nvPr>
        </p:nvSpPr>
        <p:spPr>
          <a:xfrm>
            <a:off x="3326850" y="202368"/>
            <a:ext cx="60000" cy="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92"/>
          <p:cNvSpPr txBox="1"/>
          <p:nvPr>
            <p:ph type="title"/>
          </p:nvPr>
        </p:nvSpPr>
        <p:spPr>
          <a:xfrm>
            <a:off x="1069500" y="1636600"/>
            <a:ext cx="7892400" cy="15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00"/>
              <a:t>Analysis</a:t>
            </a:r>
            <a:endParaRPr sz="1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93"/>
          <p:cNvSpPr txBox="1"/>
          <p:nvPr>
            <p:ph type="title"/>
          </p:nvPr>
        </p:nvSpPr>
        <p:spPr>
          <a:xfrm>
            <a:off x="193050" y="3324025"/>
            <a:ext cx="8757900" cy="17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700">
                <a:latin typeface="Times New Roman"/>
                <a:ea typeface="Times New Roman"/>
                <a:cs typeface="Times New Roman"/>
                <a:sym typeface="Times New Roman"/>
              </a:rPr>
              <a:t>									</a:t>
            </a:r>
            <a:endParaRPr b="0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93"/>
          <p:cNvSpPr txBox="1"/>
          <p:nvPr>
            <p:ph idx="2" type="body"/>
          </p:nvPr>
        </p:nvSpPr>
        <p:spPr>
          <a:xfrm>
            <a:off x="3326850" y="202368"/>
            <a:ext cx="24903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93"/>
          <p:cNvSpPr txBox="1"/>
          <p:nvPr>
            <p:ph idx="3" type="body"/>
          </p:nvPr>
        </p:nvSpPr>
        <p:spPr>
          <a:xfrm>
            <a:off x="6565575" y="202368"/>
            <a:ext cx="44100" cy="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93"/>
          <p:cNvSpPr txBox="1"/>
          <p:nvPr/>
        </p:nvSpPr>
        <p:spPr>
          <a:xfrm flipH="1">
            <a:off x="2892600" y="781936"/>
            <a:ext cx="44100" cy="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51" name="Google Shape;651;p93" title="Screenshot 2026-04-16 at 5.04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050" y="278375"/>
            <a:ext cx="8639950" cy="6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93" title="Screenshot 2026-04-16 at 5.05.4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050" y="1183950"/>
            <a:ext cx="8639950" cy="8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93" title="Screenshot 2026-04-16 at 5.07.3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050" y="2283625"/>
            <a:ext cx="8639948" cy="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93" title="Screenshot 2026-04-16 at 5.08.03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3050" y="3223238"/>
            <a:ext cx="8639948" cy="54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93" title="Screenshot 2026-04-16 at 5.08.28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3050" y="3979175"/>
            <a:ext cx="8639948" cy="54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94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94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94"/>
          <p:cNvSpPr txBox="1"/>
          <p:nvPr>
            <p:ph type="title"/>
          </p:nvPr>
        </p:nvSpPr>
        <p:spPr>
          <a:xfrm>
            <a:off x="1423400" y="1541325"/>
            <a:ext cx="8819400" cy="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7900"/>
              <a:t>Limitations</a:t>
            </a:r>
            <a:endParaRPr sz="7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0">
              <a:latin typeface="Noto Emoji"/>
              <a:ea typeface="Noto Emoji"/>
              <a:cs typeface="Noto Emoji"/>
              <a:sym typeface="Noto Emoj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95"/>
          <p:cNvSpPr txBox="1"/>
          <p:nvPr>
            <p:ph type="title"/>
          </p:nvPr>
        </p:nvSpPr>
        <p:spPr>
          <a:xfrm>
            <a:off x="193050" y="3324025"/>
            <a:ext cx="8757900" cy="17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700">
                <a:latin typeface="Times New Roman"/>
                <a:ea typeface="Times New Roman"/>
                <a:cs typeface="Times New Roman"/>
                <a:sym typeface="Times New Roman"/>
              </a:rPr>
              <a:t>									</a:t>
            </a:r>
            <a:endParaRPr b="0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95"/>
          <p:cNvSpPr txBox="1"/>
          <p:nvPr>
            <p:ph idx="1" type="body"/>
          </p:nvPr>
        </p:nvSpPr>
        <p:spPr>
          <a:xfrm>
            <a:off x="130025" y="202399"/>
            <a:ext cx="8832000" cy="48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95"/>
          <p:cNvSpPr txBox="1"/>
          <p:nvPr>
            <p:ph idx="2" type="body"/>
          </p:nvPr>
        </p:nvSpPr>
        <p:spPr>
          <a:xfrm>
            <a:off x="3326850" y="202368"/>
            <a:ext cx="24903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95"/>
          <p:cNvSpPr txBox="1"/>
          <p:nvPr>
            <p:ph idx="3" type="body"/>
          </p:nvPr>
        </p:nvSpPr>
        <p:spPr>
          <a:xfrm>
            <a:off x="6565575" y="202368"/>
            <a:ext cx="44100" cy="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95"/>
          <p:cNvSpPr txBox="1"/>
          <p:nvPr/>
        </p:nvSpPr>
        <p:spPr>
          <a:xfrm flipH="1">
            <a:off x="2892600" y="781936"/>
            <a:ext cx="44100" cy="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72" name="Google Shape;672;p95" title="Screenshot 2026-04-16 at 5.15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25" y="561175"/>
            <a:ext cx="4376900" cy="15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95" title="Screenshot 2026-04-16 at 5.16.0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2350" y="561175"/>
            <a:ext cx="4376900" cy="15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95" title="Screenshot 2026-04-16 at 5.17.0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7375" y="2397650"/>
            <a:ext cx="4313874" cy="143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96"/>
          <p:cNvSpPr txBox="1"/>
          <p:nvPr>
            <p:ph idx="1" type="body"/>
          </p:nvPr>
        </p:nvSpPr>
        <p:spPr>
          <a:xfrm>
            <a:off x="130025" y="202370"/>
            <a:ext cx="1495200" cy="2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96"/>
          <p:cNvSpPr txBox="1"/>
          <p:nvPr>
            <p:ph idx="2" type="body"/>
          </p:nvPr>
        </p:nvSpPr>
        <p:spPr>
          <a:xfrm>
            <a:off x="3326850" y="202367"/>
            <a:ext cx="2490300" cy="2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96"/>
          <p:cNvSpPr txBox="1"/>
          <p:nvPr>
            <p:ph type="title"/>
          </p:nvPr>
        </p:nvSpPr>
        <p:spPr>
          <a:xfrm>
            <a:off x="625800" y="1964375"/>
            <a:ext cx="7892400" cy="22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0"/>
              <a:t>Future Work</a:t>
            </a:r>
            <a:endParaRPr sz="8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97"/>
          <p:cNvSpPr txBox="1"/>
          <p:nvPr>
            <p:ph type="title"/>
          </p:nvPr>
        </p:nvSpPr>
        <p:spPr>
          <a:xfrm>
            <a:off x="193050" y="3324025"/>
            <a:ext cx="8757900" cy="17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700">
                <a:latin typeface="Times New Roman"/>
                <a:ea typeface="Times New Roman"/>
                <a:cs typeface="Times New Roman"/>
                <a:sym typeface="Times New Roman"/>
              </a:rPr>
              <a:t>									</a:t>
            </a:r>
            <a:endParaRPr b="0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97"/>
          <p:cNvSpPr txBox="1"/>
          <p:nvPr>
            <p:ph idx="1" type="body"/>
          </p:nvPr>
        </p:nvSpPr>
        <p:spPr>
          <a:xfrm>
            <a:off x="130025" y="202399"/>
            <a:ext cx="8832000" cy="48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97"/>
          <p:cNvSpPr txBox="1"/>
          <p:nvPr>
            <p:ph idx="2" type="body"/>
          </p:nvPr>
        </p:nvSpPr>
        <p:spPr>
          <a:xfrm>
            <a:off x="3326850" y="202368"/>
            <a:ext cx="2490300" cy="3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97"/>
          <p:cNvSpPr txBox="1"/>
          <p:nvPr>
            <p:ph idx="3" type="body"/>
          </p:nvPr>
        </p:nvSpPr>
        <p:spPr>
          <a:xfrm>
            <a:off x="6565575" y="202368"/>
            <a:ext cx="44100" cy="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97"/>
          <p:cNvSpPr txBox="1"/>
          <p:nvPr/>
        </p:nvSpPr>
        <p:spPr>
          <a:xfrm flipH="1">
            <a:off x="2892600" y="781936"/>
            <a:ext cx="44100" cy="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91" name="Google Shape;691;p97" title="Screenshot 2026-04-16 at 5.22.2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00" y="1421421"/>
            <a:ext cx="8757898" cy="2062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98"/>
          <p:cNvSpPr/>
          <p:nvPr/>
        </p:nvSpPr>
        <p:spPr>
          <a:xfrm rot="287498">
            <a:off x="572506" y="1341108"/>
            <a:ext cx="2039929" cy="927834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7" name="Google Shape;697;p98"/>
          <p:cNvSpPr/>
          <p:nvPr/>
        </p:nvSpPr>
        <p:spPr>
          <a:xfrm rot="-176011">
            <a:off x="6511541" y="2840294"/>
            <a:ext cx="2039973" cy="927911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8" name="Google Shape;698;p98"/>
          <p:cNvSpPr txBox="1"/>
          <p:nvPr>
            <p:ph type="title"/>
          </p:nvPr>
        </p:nvSpPr>
        <p:spPr>
          <a:xfrm>
            <a:off x="625800" y="1921800"/>
            <a:ext cx="7892400" cy="12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Kickoff Presentation">
  <a:themeElements>
    <a:clrScheme name="Simple Light">
      <a:dk1>
        <a:srgbClr val="FBFBFB"/>
      </a:dk1>
      <a:lt1>
        <a:srgbClr val="1C2026"/>
      </a:lt1>
      <a:dk2>
        <a:srgbClr val="F5F5F5"/>
      </a:dk2>
      <a:lt2>
        <a:srgbClr val="1C2026"/>
      </a:lt2>
      <a:accent1>
        <a:srgbClr val="E9E9E9"/>
      </a:accent1>
      <a:accent2>
        <a:srgbClr val="7A7A7A"/>
      </a:accent2>
      <a:accent3>
        <a:srgbClr val="C2C2C2"/>
      </a:accent3>
      <a:accent4>
        <a:srgbClr val="434343"/>
      </a:accent4>
      <a:accent5>
        <a:srgbClr val="666666"/>
      </a:accent5>
      <a:accent6>
        <a:srgbClr val="999999"/>
      </a:accent6>
      <a:hlink>
        <a:srgbClr val="B7B7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ducational Games - Guess the Missing Word">
  <a:themeElements>
    <a:clrScheme name="Simple Light">
      <a:dk1>
        <a:srgbClr val="000000"/>
      </a:dk1>
      <a:lt1>
        <a:srgbClr val="F3EFEC"/>
      </a:lt1>
      <a:dk2>
        <a:srgbClr val="AE7FF7"/>
      </a:dk2>
      <a:lt2>
        <a:srgbClr val="F0E053"/>
      </a:lt2>
      <a:accent1>
        <a:srgbClr val="F6521D"/>
      </a:accent1>
      <a:accent2>
        <a:srgbClr val="E97C8E"/>
      </a:accent2>
      <a:accent3>
        <a:srgbClr val="CCCCCC"/>
      </a:accent3>
      <a:accent4>
        <a:srgbClr val="63CCCA"/>
      </a:accent4>
      <a:accent5>
        <a:srgbClr val="625F63"/>
      </a:accent5>
      <a:accent6>
        <a:srgbClr val="7E2E84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